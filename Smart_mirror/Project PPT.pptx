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64" r:id="rId1"/>
  </p:sldMasterIdLst>
  <p:notesMasterIdLst>
    <p:notesMasterId r:id="rId18"/>
  </p:notesMasterIdLst>
  <p:sldIdLst>
    <p:sldId id="256" r:id="rId2"/>
    <p:sldId id="257" r:id="rId3"/>
    <p:sldId id="258" r:id="rId4"/>
    <p:sldId id="262" r:id="rId5"/>
    <p:sldId id="260" r:id="rId6"/>
    <p:sldId id="277" r:id="rId7"/>
    <p:sldId id="280" r:id="rId8"/>
    <p:sldId id="289" r:id="rId9"/>
    <p:sldId id="286" r:id="rId10"/>
    <p:sldId id="287" r:id="rId11"/>
    <p:sldId id="290" r:id="rId12"/>
    <p:sldId id="291" r:id="rId13"/>
    <p:sldId id="268" r:id="rId14"/>
    <p:sldId id="288" r:id="rId15"/>
    <p:sldId id="269" r:id="rId16"/>
    <p:sldId id="28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8548" autoAdjust="0"/>
    <p:restoredTop sz="94660"/>
  </p:normalViewPr>
  <p:slideViewPr>
    <p:cSldViewPr snapToGrid="0">
      <p:cViewPr>
        <p:scale>
          <a:sx n="72" d="100"/>
          <a:sy n="72" d="100"/>
        </p:scale>
        <p:origin x="-941" y="-307"/>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009B2-7EC2-482D-AFF1-741C3A4EEFAA}" type="datetimeFigureOut">
              <a:rPr lang="en-IN" smtClean="0"/>
              <a:pPr/>
              <a:t>16-04-2025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84F36-3FE5-4FAA-8637-A1D0028C4A7A}" type="slidenum">
              <a:rPr lang="en-IN" smtClean="0"/>
              <a:pPr/>
              <a:t>‹#›</a:t>
            </a:fld>
            <a:endParaRPr lang="en-IN"/>
          </a:p>
        </p:txBody>
      </p:sp>
    </p:spTree>
    <p:extLst>
      <p:ext uri="{BB962C8B-B14F-4D97-AF65-F5344CB8AC3E}">
        <p14:creationId xmlns="" xmlns:p14="http://schemas.microsoft.com/office/powerpoint/2010/main" val="3705705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B984F36-3FE5-4FAA-8637-A1D0028C4A7A}" type="slidenum">
              <a:rPr lang="en-IN" smtClean="0"/>
              <a:pPr/>
              <a:t>1</a:t>
            </a:fld>
            <a:endParaRPr lang="en-IN"/>
          </a:p>
        </p:txBody>
      </p:sp>
    </p:spTree>
    <p:extLst>
      <p:ext uri="{BB962C8B-B14F-4D97-AF65-F5344CB8AC3E}">
        <p14:creationId xmlns="" xmlns:p14="http://schemas.microsoft.com/office/powerpoint/2010/main" val="1538243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B984F36-3FE5-4FAA-8637-A1D0028C4A7A}" type="slidenum">
              <a:rPr lang="en-IN" smtClean="0"/>
              <a:pPr/>
              <a:t>2</a:t>
            </a:fld>
            <a:endParaRPr lang="en-IN"/>
          </a:p>
        </p:txBody>
      </p:sp>
    </p:spTree>
    <p:extLst>
      <p:ext uri="{BB962C8B-B14F-4D97-AF65-F5344CB8AC3E}">
        <p14:creationId xmlns="" xmlns:p14="http://schemas.microsoft.com/office/powerpoint/2010/main" val="3300221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B984F36-3FE5-4FAA-8637-A1D0028C4A7A}" type="slidenum">
              <a:rPr lang="en-IN" smtClean="0"/>
              <a:pPr/>
              <a:t>5</a:t>
            </a:fld>
            <a:endParaRPr lang="en-IN"/>
          </a:p>
        </p:txBody>
      </p:sp>
    </p:spTree>
    <p:extLst>
      <p:ext uri="{BB962C8B-B14F-4D97-AF65-F5344CB8AC3E}">
        <p14:creationId xmlns="" xmlns:p14="http://schemas.microsoft.com/office/powerpoint/2010/main" val="3078595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598672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822099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718433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1441042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3345089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3168197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884131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9187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21881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475038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 xmlns:p14="http://schemas.microsoft.com/office/powerpoint/2010/main" val="27430695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985442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 xmlns:p14="http://schemas.microsoft.com/office/powerpoint/2010/main" val="2070207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11374644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3940830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536411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4/16/2025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96509205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6" r:id="rId12"/>
    <p:sldLayoutId id="2147483877" r:id="rId13"/>
    <p:sldLayoutId id="2147483878" r:id="rId14"/>
    <p:sldLayoutId id="2147483879" r:id="rId15"/>
    <p:sldLayoutId id="214748388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EB25BAE-017C-E135-B03E-CCF0A6C33098}"/>
              </a:ext>
            </a:extLst>
          </p:cNvPr>
          <p:cNvSpPr>
            <a:spLocks noGrp="1"/>
          </p:cNvSpPr>
          <p:nvPr>
            <p:ph type="ctrTitle"/>
          </p:nvPr>
        </p:nvSpPr>
        <p:spPr>
          <a:xfrm>
            <a:off x="650240" y="243281"/>
            <a:ext cx="11069055" cy="922788"/>
          </a:xfrm>
        </p:spPr>
        <p:txBody>
          <a:bodyPr>
            <a:normAutofit/>
          </a:bodyPr>
          <a:lstStyle/>
          <a:p>
            <a:pPr algn="ctr"/>
            <a:r>
              <a:rPr lang="en-US" sz="2400" b="1" dirty="0">
                <a:solidFill>
                  <a:schemeClr val="tx1"/>
                </a:solidFill>
                <a:latin typeface="Times New Roman" panose="02020603050405020304" pitchFamily="18" charset="0"/>
                <a:cs typeface="Times New Roman" panose="02020603050405020304" pitchFamily="18" charset="0"/>
              </a:rPr>
              <a:t>Dr. D.Y. Patil College of Engineering and Innovation, Pune</a:t>
            </a:r>
            <a:br>
              <a:rPr lang="en-US" sz="2400" b="1" dirty="0">
                <a:solidFill>
                  <a:schemeClr val="tx1"/>
                </a:solidFill>
                <a:latin typeface="Times New Roman" panose="02020603050405020304" pitchFamily="18" charset="0"/>
                <a:cs typeface="Times New Roman" panose="02020603050405020304" pitchFamily="18" charset="0"/>
              </a:rPr>
            </a:br>
            <a:endParaRPr lang="en-IN" sz="2400" dirty="0"/>
          </a:p>
        </p:txBody>
      </p:sp>
      <p:sp>
        <p:nvSpPr>
          <p:cNvPr id="3" name="Subtitle 2">
            <a:extLst>
              <a:ext uri="{FF2B5EF4-FFF2-40B4-BE49-F238E27FC236}">
                <a16:creationId xmlns="" xmlns:a16="http://schemas.microsoft.com/office/drawing/2014/main" id="{51FF8FD6-F06E-4556-B483-63C394754C86}"/>
              </a:ext>
            </a:extLst>
          </p:cNvPr>
          <p:cNvSpPr>
            <a:spLocks noGrp="1"/>
          </p:cNvSpPr>
          <p:nvPr>
            <p:ph type="subTitle" idx="1"/>
          </p:nvPr>
        </p:nvSpPr>
        <p:spPr>
          <a:xfrm>
            <a:off x="2572638" y="1166069"/>
            <a:ext cx="7196513" cy="5244062"/>
          </a:xfrm>
        </p:spPr>
        <p:txBody>
          <a:bodyPr>
            <a:normAutofit lnSpcReduction="10000"/>
          </a:bodyPr>
          <a:lstStyle/>
          <a:p>
            <a:pPr marL="0" indent="0" algn="ctr">
              <a:buNone/>
            </a:pPr>
            <a:r>
              <a:rPr lang="en-US" sz="2200" dirty="0">
                <a:solidFill>
                  <a:schemeClr val="tx1"/>
                </a:solidFill>
                <a:latin typeface="Times New Roman" panose="02020603050405020304" pitchFamily="18" charset="0"/>
                <a:cs typeface="Times New Roman" panose="02020603050405020304" pitchFamily="18" charset="0"/>
              </a:rPr>
              <a:t>A Presentation</a:t>
            </a:r>
          </a:p>
          <a:p>
            <a:pPr marL="0" indent="0" algn="ctr">
              <a:buNone/>
            </a:pPr>
            <a:r>
              <a:rPr lang="en-US" sz="2200" dirty="0">
                <a:solidFill>
                  <a:schemeClr val="tx1"/>
                </a:solidFill>
                <a:latin typeface="Times New Roman" panose="02020603050405020304" pitchFamily="18" charset="0"/>
                <a:cs typeface="Times New Roman" panose="02020603050405020304" pitchFamily="18" charset="0"/>
              </a:rPr>
              <a:t>On</a:t>
            </a:r>
          </a:p>
          <a:p>
            <a:pPr marL="0" indent="0" algn="ctr">
              <a:buNone/>
            </a:pPr>
            <a:r>
              <a:rPr lang="en-US" sz="2400" b="1" dirty="0" err="1">
                <a:solidFill>
                  <a:schemeClr val="tx1"/>
                </a:solidFill>
                <a:latin typeface="Times New Roman" panose="02020603050405020304" pitchFamily="18" charset="0"/>
                <a:cs typeface="Times New Roman" panose="02020603050405020304" pitchFamily="18" charset="0"/>
              </a:rPr>
              <a:t>Reflectech</a:t>
            </a:r>
            <a:r>
              <a:rPr lang="en-US" sz="2400" b="1" dirty="0">
                <a:solidFill>
                  <a:schemeClr val="tx1"/>
                </a:solidFill>
                <a:latin typeface="Times New Roman" panose="02020603050405020304" pitchFamily="18" charset="0"/>
                <a:cs typeface="Times New Roman" panose="02020603050405020304" pitchFamily="18" charset="0"/>
              </a:rPr>
              <a:t> : The Smart Mirror </a:t>
            </a:r>
          </a:p>
          <a:p>
            <a:pPr marL="0" indent="0" algn="ctr">
              <a:buNone/>
            </a:pPr>
            <a:r>
              <a:rPr lang="en-US" sz="2400" dirty="0">
                <a:solidFill>
                  <a:schemeClr val="tx1"/>
                </a:solidFill>
                <a:latin typeface="Times New Roman" panose="02020603050405020304" pitchFamily="18" charset="0"/>
                <a:cs typeface="Times New Roman" panose="02020603050405020304" pitchFamily="18" charset="0"/>
              </a:rPr>
              <a:t>Under the Guidance</a:t>
            </a:r>
          </a:p>
          <a:p>
            <a:pPr marL="0" indent="0" algn="ctr">
              <a:buNone/>
            </a:pPr>
            <a:r>
              <a:rPr lang="en-US" sz="1800" dirty="0">
                <a:solidFill>
                  <a:schemeClr val="tx1"/>
                </a:solidFill>
                <a:latin typeface="Times New Roman" panose="02020603050405020304" pitchFamily="18" charset="0"/>
                <a:cs typeface="Times New Roman" panose="02020603050405020304" pitchFamily="18" charset="0"/>
              </a:rPr>
              <a:t>Of</a:t>
            </a:r>
          </a:p>
          <a:p>
            <a:pPr marL="0" indent="0" algn="ctr">
              <a:buNone/>
            </a:pPr>
            <a:r>
              <a:rPr lang="en-US" sz="2200" dirty="0">
                <a:solidFill>
                  <a:schemeClr val="tx1"/>
                </a:solidFill>
                <a:latin typeface="Times New Roman" panose="02020603050405020304" pitchFamily="18" charset="0"/>
                <a:cs typeface="Times New Roman" panose="02020603050405020304" pitchFamily="18" charset="0"/>
              </a:rPr>
              <a:t>Mr. Santosh </a:t>
            </a:r>
            <a:r>
              <a:rPr lang="en-US" sz="2200" dirty="0" err="1">
                <a:solidFill>
                  <a:schemeClr val="tx1"/>
                </a:solidFill>
                <a:latin typeface="Times New Roman" panose="02020603050405020304" pitchFamily="18" charset="0"/>
                <a:cs typeface="Times New Roman" panose="02020603050405020304" pitchFamily="18" charset="0"/>
              </a:rPr>
              <a:t>Kawade</a:t>
            </a:r>
            <a:r>
              <a:rPr lang="en-US" sz="2200" dirty="0">
                <a:solidFill>
                  <a:schemeClr val="tx1"/>
                </a:solidFill>
                <a:latin typeface="Times New Roman" panose="02020603050405020304" pitchFamily="18" charset="0"/>
                <a:cs typeface="Times New Roman" panose="02020603050405020304" pitchFamily="18" charset="0"/>
              </a:rPr>
              <a:t> </a:t>
            </a:r>
          </a:p>
          <a:p>
            <a:pPr marL="0" indent="0" algn="ctr">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lgn="ctr">
              <a:buNone/>
            </a:pPr>
            <a:r>
              <a:rPr lang="en-US" sz="1800" dirty="0">
                <a:solidFill>
                  <a:schemeClr val="tx1"/>
                </a:solidFill>
                <a:latin typeface="Times New Roman" panose="02020603050405020304" pitchFamily="18" charset="0"/>
                <a:cs typeface="Times New Roman" panose="02020603050405020304" pitchFamily="18" charset="0"/>
              </a:rPr>
              <a:t>By</a:t>
            </a:r>
          </a:p>
          <a:p>
            <a:pPr marL="0" indent="0" algn="ctr">
              <a:buNone/>
            </a:pPr>
            <a:r>
              <a:rPr lang="en-US" sz="2000" dirty="0" err="1">
                <a:solidFill>
                  <a:schemeClr val="tx1"/>
                </a:solidFill>
                <a:latin typeface="Times New Roman" panose="02020603050405020304" pitchFamily="18" charset="0"/>
                <a:cs typeface="Times New Roman" panose="02020603050405020304" pitchFamily="18" charset="0"/>
              </a:rPr>
              <a:t>Tanuja</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Waware</a:t>
            </a:r>
            <a:r>
              <a:rPr lang="en-US" sz="2000" dirty="0">
                <a:solidFill>
                  <a:schemeClr val="tx1"/>
                </a:solidFill>
                <a:latin typeface="Times New Roman" panose="02020603050405020304" pitchFamily="18" charset="0"/>
                <a:cs typeface="Times New Roman" panose="02020603050405020304" pitchFamily="18" charset="0"/>
              </a:rPr>
              <a:t>  (</a:t>
            </a: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14366</a:t>
            </a:r>
            <a:r>
              <a:rPr lang="en-US" sz="2000" dirty="0">
                <a:solidFill>
                  <a:schemeClr val="tx1"/>
                </a:solidFill>
                <a:latin typeface="Times New Roman" panose="02020603050405020304" pitchFamily="18" charset="0"/>
                <a:cs typeface="Times New Roman" panose="02020603050405020304" pitchFamily="18" charset="0"/>
              </a:rPr>
              <a:t>)</a:t>
            </a:r>
          </a:p>
          <a:p>
            <a:pPr marL="0" indent="0" algn="ctr">
              <a:lnSpc>
                <a:spcPct val="100000"/>
              </a:lnSpc>
              <a:buNone/>
            </a:pPr>
            <a:r>
              <a:rPr lang="en-US" sz="2000" dirty="0">
                <a:solidFill>
                  <a:schemeClr val="tx1"/>
                </a:solidFill>
                <a:latin typeface="Times New Roman" panose="02020603050405020304" pitchFamily="18" charset="0"/>
                <a:cs typeface="Times New Roman" panose="02020603050405020304" pitchFamily="18" charset="0"/>
              </a:rPr>
              <a:t> Divya </a:t>
            </a:r>
            <a:r>
              <a:rPr lang="en-US" sz="2000" dirty="0" err="1">
                <a:solidFill>
                  <a:schemeClr val="tx1"/>
                </a:solidFill>
                <a:latin typeface="Times New Roman" panose="02020603050405020304" pitchFamily="18" charset="0"/>
                <a:cs typeface="Times New Roman" panose="02020603050405020304" pitchFamily="18" charset="0"/>
              </a:rPr>
              <a:t>Rathod</a:t>
            </a:r>
            <a:r>
              <a:rPr lang="en-US" sz="2000" dirty="0">
                <a:solidFill>
                  <a:schemeClr val="tx1"/>
                </a:solidFill>
                <a:latin typeface="Times New Roman" panose="02020603050405020304" pitchFamily="18" charset="0"/>
                <a:cs typeface="Times New Roman" panose="02020603050405020304" pitchFamily="18" charset="0"/>
              </a:rPr>
              <a:t>   (14315)</a:t>
            </a:r>
          </a:p>
          <a:p>
            <a:pPr marL="0" indent="0" algn="ctr">
              <a:lnSpc>
                <a:spcPct val="100000"/>
              </a:lnSpc>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Amrut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Taki</a:t>
            </a:r>
            <a:r>
              <a:rPr lang="en-US" sz="2000" dirty="0">
                <a:solidFill>
                  <a:schemeClr val="tx1"/>
                </a:solidFill>
                <a:latin typeface="Times New Roman" panose="02020603050405020304" pitchFamily="18" charset="0"/>
                <a:cs typeface="Times New Roman" panose="02020603050405020304" pitchFamily="18" charset="0"/>
              </a:rPr>
              <a:t>    (14345)</a:t>
            </a:r>
          </a:p>
          <a:p>
            <a:pPr marL="0" indent="0" algn="ctr">
              <a:lnSpc>
                <a:spcPct val="100000"/>
              </a:lnSpc>
              <a:buNone/>
            </a:pPr>
            <a:r>
              <a:rPr lang="en-US" sz="2000" dirty="0">
                <a:solidFill>
                  <a:schemeClr val="tx1"/>
                </a:solidFill>
                <a:latin typeface="Times New Roman" panose="02020603050405020304" pitchFamily="18" charset="0"/>
                <a:cs typeface="Times New Roman" panose="02020603050405020304" pitchFamily="18" charset="0"/>
              </a:rPr>
              <a:t>Meghna </a:t>
            </a:r>
            <a:r>
              <a:rPr lang="en-US" sz="2000" dirty="0" err="1">
                <a:solidFill>
                  <a:schemeClr val="tx1"/>
                </a:solidFill>
                <a:latin typeface="Times New Roman" panose="02020603050405020304" pitchFamily="18" charset="0"/>
                <a:cs typeface="Times New Roman" panose="02020603050405020304" pitchFamily="18" charset="0"/>
              </a:rPr>
              <a:t>Tighare</a:t>
            </a:r>
            <a:r>
              <a:rPr lang="en-US" sz="2000" dirty="0">
                <a:solidFill>
                  <a:schemeClr val="tx1"/>
                </a:solidFill>
                <a:latin typeface="Times New Roman" panose="02020603050405020304" pitchFamily="18" charset="0"/>
                <a:cs typeface="Times New Roman" panose="02020603050405020304" pitchFamily="18" charset="0"/>
              </a:rPr>
              <a:t>  (14358</a:t>
            </a:r>
            <a:r>
              <a:rPr lang="en-US" sz="2000" dirty="0">
                <a:latin typeface="Times New Roman" panose="02020603050405020304" pitchFamily="18" charset="0"/>
                <a:cs typeface="Times New Roman" panose="02020603050405020304" pitchFamily="18" charset="0"/>
              </a:rPr>
              <a:t>)</a:t>
            </a:r>
          </a:p>
          <a:p>
            <a:pPr marL="0" indent="0" algn="ctr">
              <a:lnSpc>
                <a:spcPct val="100000"/>
              </a:lnSpc>
              <a:buNone/>
            </a:pPr>
            <a:endParaRPr lang="en-US" sz="1800" dirty="0">
              <a:solidFill>
                <a:schemeClr val="accent4">
                  <a:lumMod val="50000"/>
                </a:schemeClr>
              </a:solidFill>
              <a:latin typeface="Times New Roman" panose="02020603050405020304" pitchFamily="18" charset="0"/>
              <a:cs typeface="Times New Roman" panose="02020603050405020304" pitchFamily="18" charset="0"/>
            </a:endParaRPr>
          </a:p>
          <a:p>
            <a:endParaRPr lang="en-IN" dirty="0"/>
          </a:p>
        </p:txBody>
      </p:sp>
      <p:pic>
        <p:nvPicPr>
          <p:cNvPr id="4" name="Picture 3" descr="New logo">
            <a:extLst>
              <a:ext uri="{FF2B5EF4-FFF2-40B4-BE49-F238E27FC236}">
                <a16:creationId xmlns="" xmlns:a16="http://schemas.microsoft.com/office/drawing/2014/main" id="{346C67D6-BD0B-BD43-B9E0-2440CAF22F86}"/>
              </a:ext>
            </a:extLst>
          </p:cNvPr>
          <p:cNvPicPr>
            <a:picLocks noChangeAspect="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864422" y="983189"/>
            <a:ext cx="1448281" cy="1325563"/>
          </a:xfrm>
          <a:prstGeom prst="rect">
            <a:avLst/>
          </a:prstGeom>
          <a:noFill/>
          <a:ln>
            <a:noFill/>
          </a:ln>
        </p:spPr>
      </p:pic>
      <p:pic>
        <p:nvPicPr>
          <p:cNvPr id="5" name="Picture 4">
            <a:extLst>
              <a:ext uri="{FF2B5EF4-FFF2-40B4-BE49-F238E27FC236}">
                <a16:creationId xmlns="" xmlns:a16="http://schemas.microsoft.com/office/drawing/2014/main" id="{5C4CADAD-BEE1-8072-0599-D0B4CF62B006}"/>
              </a:ext>
            </a:extLst>
          </p:cNvPr>
          <p:cNvPicPr>
            <a:picLocks noChangeAspect="1"/>
          </p:cNvPicPr>
          <p:nvPr/>
        </p:nvPicPr>
        <p:blipFill>
          <a:blip r:embed="rId4"/>
          <a:stretch>
            <a:fillRect/>
          </a:stretch>
        </p:blipFill>
        <p:spPr>
          <a:xfrm>
            <a:off x="10247098" y="983189"/>
            <a:ext cx="1472198" cy="1325563"/>
          </a:xfrm>
          <a:prstGeom prst="rect">
            <a:avLst/>
          </a:prstGeom>
        </p:spPr>
      </p:pic>
    </p:spTree>
    <p:extLst>
      <p:ext uri="{BB962C8B-B14F-4D97-AF65-F5344CB8AC3E}">
        <p14:creationId xmlns="" xmlns:p14="http://schemas.microsoft.com/office/powerpoint/2010/main" val="2062726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D4C364-1FDB-7A07-C76A-99ECC31D4268}"/>
              </a:ext>
            </a:extLst>
          </p:cNvPr>
          <p:cNvSpPr>
            <a:spLocks noGrp="1"/>
          </p:cNvSpPr>
          <p:nvPr>
            <p:ph type="title"/>
          </p:nvPr>
        </p:nvSpPr>
        <p:spPr>
          <a:xfrm>
            <a:off x="665934" y="225743"/>
            <a:ext cx="10131425" cy="715347"/>
          </a:xfrm>
        </p:spPr>
        <p:txBody>
          <a:bodyPr/>
          <a:lstStyle/>
          <a:p>
            <a:r>
              <a:rPr lang="en-US" dirty="0">
                <a:latin typeface="Times New Roman" panose="02020603050405020304" pitchFamily="18" charset="0"/>
                <a:cs typeface="Times New Roman" panose="02020603050405020304" pitchFamily="18" charset="0"/>
              </a:rPr>
              <a:t>                                 CONTENTS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0719CF87-7E14-B1C8-2143-BFF3F80E85C6}"/>
              </a:ext>
            </a:extLst>
          </p:cNvPr>
          <p:cNvSpPr>
            <a:spLocks noGrp="1"/>
          </p:cNvSpPr>
          <p:nvPr>
            <p:ph idx="1"/>
          </p:nvPr>
        </p:nvSpPr>
        <p:spPr>
          <a:xfrm>
            <a:off x="502369" y="739338"/>
            <a:ext cx="9909110" cy="5876626"/>
          </a:xfrm>
        </p:spPr>
        <p:txBody>
          <a:bodyPr>
            <a:noAutofit/>
          </a:bodyPr>
          <a:lstStyle/>
          <a:p>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Introduction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Problem statement</a:t>
            </a:r>
          </a:p>
          <a:p>
            <a:r>
              <a:rPr lang="en-US" sz="2400" dirty="0">
                <a:latin typeface="Times New Roman" panose="02020603050405020304" pitchFamily="18" charset="0"/>
                <a:cs typeface="Times New Roman" panose="02020603050405020304" pitchFamily="18" charset="0"/>
              </a:rPr>
              <a:t>   Project Objectives  &amp; Goals</a:t>
            </a:r>
          </a:p>
          <a:p>
            <a:r>
              <a:rPr lang="en-US" sz="2400" dirty="0">
                <a:latin typeface="Times New Roman" panose="02020603050405020304" pitchFamily="18" charset="0"/>
                <a:cs typeface="Times New Roman" panose="02020603050405020304" pitchFamily="18" charset="0"/>
              </a:rPr>
              <a:t>   Project Scope</a:t>
            </a:r>
          </a:p>
          <a:p>
            <a:r>
              <a:rPr lang="en-US" sz="2400" dirty="0">
                <a:latin typeface="Times New Roman" panose="02020603050405020304" pitchFamily="18" charset="0"/>
                <a:cs typeface="Times New Roman" panose="02020603050405020304" pitchFamily="18" charset="0"/>
              </a:rPr>
              <a:t>   Methodology/ Approach</a:t>
            </a:r>
          </a:p>
          <a:p>
            <a:r>
              <a:rPr lang="en-US" sz="2400" dirty="0">
                <a:latin typeface="Times New Roman" panose="02020603050405020304" pitchFamily="18" charset="0"/>
                <a:cs typeface="Times New Roman" panose="02020603050405020304" pitchFamily="18" charset="0"/>
              </a:rPr>
              <a:t>   Results/finding</a:t>
            </a:r>
          </a:p>
          <a:p>
            <a:r>
              <a:rPr lang="en-US" sz="2400" dirty="0">
                <a:latin typeface="Times New Roman" panose="02020603050405020304" pitchFamily="18" charset="0"/>
                <a:cs typeface="Times New Roman" panose="02020603050405020304" pitchFamily="18" charset="0"/>
              </a:rPr>
              <a:t>   Conclusion</a:t>
            </a:r>
          </a:p>
          <a:p>
            <a:r>
              <a:rPr lang="en-US" sz="2400" dirty="0">
                <a:latin typeface="Times New Roman" panose="02020603050405020304" pitchFamily="18" charset="0"/>
                <a:cs typeface="Times New Roman" panose="02020603050405020304" pitchFamily="18" charset="0"/>
              </a:rPr>
              <a:t>   Future Work</a:t>
            </a:r>
          </a:p>
          <a:p>
            <a:r>
              <a:rPr lang="en-US" sz="2400" dirty="0">
                <a:latin typeface="Times New Roman" panose="02020603050405020304" pitchFamily="18" charset="0"/>
                <a:cs typeface="Times New Roman" panose="02020603050405020304" pitchFamily="18" charset="0"/>
              </a:rPr>
              <a:t>   References</a:t>
            </a:r>
          </a:p>
          <a:p>
            <a:endParaRPr lang="en-US" sz="2000" dirty="0">
              <a:latin typeface="Times New Roman" panose="02020603050405020304" pitchFamily="18" charset="0"/>
              <a:cs typeface="Times New Roman" panose="02020603050405020304" pitchFamily="18" charset="0"/>
            </a:endParaRPr>
          </a:p>
          <a:p>
            <a:endParaRPr lang="en-US" sz="2200" dirty="0"/>
          </a:p>
          <a:p>
            <a:endParaRPr lang="en-US" sz="2200" dirty="0"/>
          </a:p>
          <a:p>
            <a:endParaRPr lang="en-US" sz="2200" dirty="0"/>
          </a:p>
          <a:p>
            <a:endParaRPr lang="en-IN" sz="2200" dirty="0"/>
          </a:p>
        </p:txBody>
      </p:sp>
      <p:pic>
        <p:nvPicPr>
          <p:cNvPr id="11" name="Picture 10">
            <a:extLst>
              <a:ext uri="{FF2B5EF4-FFF2-40B4-BE49-F238E27FC236}">
                <a16:creationId xmlns="" xmlns:a16="http://schemas.microsoft.com/office/drawing/2014/main" id="{2FAE2BEE-AC5E-B1DD-A85D-FA0C7CDA6778}"/>
              </a:ext>
            </a:extLst>
          </p:cNvPr>
          <p:cNvPicPr>
            <a:picLocks noChangeAspect="1"/>
          </p:cNvPicPr>
          <p:nvPr/>
        </p:nvPicPr>
        <p:blipFill>
          <a:blip r:embed="rId3"/>
          <a:stretch>
            <a:fillRect/>
          </a:stretch>
        </p:blipFill>
        <p:spPr>
          <a:xfrm>
            <a:off x="5971451" y="1214675"/>
            <a:ext cx="6220549" cy="4691602"/>
          </a:xfrm>
          <a:prstGeom prst="rect">
            <a:avLst/>
          </a:prstGeom>
        </p:spPr>
      </p:pic>
    </p:spTree>
    <p:extLst>
      <p:ext uri="{BB962C8B-B14F-4D97-AF65-F5344CB8AC3E}">
        <p14:creationId xmlns="" xmlns:p14="http://schemas.microsoft.com/office/powerpoint/2010/main" val="1586770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D4C364-1FDB-7A07-C76A-99ECC31D4268}"/>
              </a:ext>
            </a:extLst>
          </p:cNvPr>
          <p:cNvSpPr>
            <a:spLocks noGrp="1"/>
          </p:cNvSpPr>
          <p:nvPr>
            <p:ph type="title"/>
          </p:nvPr>
        </p:nvSpPr>
        <p:spPr>
          <a:xfrm>
            <a:off x="894305" y="355546"/>
            <a:ext cx="10131425" cy="905069"/>
          </a:xfrm>
        </p:spPr>
        <p:txBody>
          <a:bodyPr/>
          <a:lstStyle/>
          <a:p>
            <a:r>
              <a:rPr lang="en-US" dirty="0"/>
              <a:t>                             </a:t>
            </a:r>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0719CF87-7E14-B1C8-2143-BFF3F80E85C6}"/>
              </a:ext>
            </a:extLst>
          </p:cNvPr>
          <p:cNvSpPr>
            <a:spLocks noGrp="1"/>
          </p:cNvSpPr>
          <p:nvPr>
            <p:ph idx="1"/>
          </p:nvPr>
        </p:nvSpPr>
        <p:spPr>
          <a:xfrm>
            <a:off x="894305" y="1186187"/>
            <a:ext cx="10727574" cy="6092722"/>
          </a:xfrm>
        </p:spPr>
        <p:txBody>
          <a:bodyPr>
            <a:normAutofit/>
          </a:bodyPr>
          <a:lstStyle/>
          <a:p>
            <a:pPr algn="just"/>
            <a:r>
              <a:rPr lang="en-US" sz="2400" dirty="0">
                <a:latin typeface="Times New Roman" panose="02020603050405020304" pitchFamily="18" charset="0"/>
                <a:cs typeface="Times New Roman" panose="02020603050405020304" pitchFamily="18" charset="0"/>
              </a:rPr>
              <a:t>A smart mirror is a next-generation device that combines traditional reflective surfaces with digital displays to provide an interactive and connected experience. Beyond serving as a regular mirror, it can display information such as the time, weather, news, and calendar events.</a:t>
            </a:r>
          </a:p>
          <a:p>
            <a:pPr algn="just"/>
            <a:r>
              <a:rPr lang="en-US" sz="2400" dirty="0">
                <a:latin typeface="Times New Roman" panose="02020603050405020304" pitchFamily="18" charset="0"/>
                <a:cs typeface="Times New Roman" panose="02020603050405020304" pitchFamily="18" charset="0"/>
              </a:rPr>
              <a:t> Some smart mirrors are equipped with voice control, touch interfaces, and even facial recognition, allowing users to interact with them seamlessly. </a:t>
            </a:r>
          </a:p>
          <a:p>
            <a:pPr algn="just"/>
            <a:r>
              <a:rPr lang="en-US" sz="2400" dirty="0">
                <a:latin typeface="Times New Roman" panose="02020603050405020304" pitchFamily="18" charset="0"/>
                <a:cs typeface="Times New Roman" panose="02020603050405020304" pitchFamily="18" charset="0"/>
              </a:rPr>
              <a:t>By integrating with smart home systems and various apps, smart mirrors offer enhanced convenience, personalization, and functionality, making daily routines more efficient and informed.</a:t>
            </a:r>
          </a:p>
          <a:p>
            <a:pPr algn="just"/>
            <a:r>
              <a:rPr lang="en-US" sz="2400" dirty="0">
                <a:latin typeface="Times New Roman" panose="02020603050405020304" pitchFamily="18" charset="0"/>
                <a:cs typeface="Times New Roman" panose="02020603050405020304" pitchFamily="18" charset="0"/>
              </a:rPr>
              <a:t>A smart mirror is an innovative device that combines the functionality of a traditional mirror with advanced technology to provide interactive features and information.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178992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20C999-AB69-2805-DA2B-0F906155581B}"/>
              </a:ext>
            </a:extLst>
          </p:cNvPr>
          <p:cNvSpPr>
            <a:spLocks noGrp="1"/>
          </p:cNvSpPr>
          <p:nvPr>
            <p:ph type="title"/>
          </p:nvPr>
        </p:nvSpPr>
        <p:spPr>
          <a:xfrm>
            <a:off x="1768533" y="623455"/>
            <a:ext cx="8963488" cy="864524"/>
          </a:xfrm>
        </p:spPr>
        <p:txBody>
          <a:bodyPr/>
          <a:lstStyle/>
          <a:p>
            <a:r>
              <a:rPr lang="en-US" sz="3600" dirty="0">
                <a:latin typeface="Times New Roman" panose="02020603050405020304" pitchFamily="18" charset="0"/>
                <a:cs typeface="Times New Roman" panose="02020603050405020304" pitchFamily="18" charset="0"/>
              </a:rPr>
              <a:t>                  Problem statement</a:t>
            </a:r>
            <a:endParaRPr lang="en-IN" dirty="0"/>
          </a:p>
        </p:txBody>
      </p:sp>
      <p:sp>
        <p:nvSpPr>
          <p:cNvPr id="3" name="Content Placeholder 2">
            <a:extLst>
              <a:ext uri="{FF2B5EF4-FFF2-40B4-BE49-F238E27FC236}">
                <a16:creationId xmlns="" xmlns:a16="http://schemas.microsoft.com/office/drawing/2014/main" id="{4969ED51-0DF7-1304-4A85-9D3B063C4517}"/>
              </a:ext>
            </a:extLst>
          </p:cNvPr>
          <p:cNvSpPr>
            <a:spLocks noGrp="1"/>
          </p:cNvSpPr>
          <p:nvPr>
            <p:ph idx="1"/>
          </p:nvPr>
        </p:nvSpPr>
        <p:spPr>
          <a:xfrm>
            <a:off x="1184565" y="1687484"/>
            <a:ext cx="10131425" cy="2208415"/>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problem is to create a smart mirror that effectively integrates a calendar and customizable widgets, providing users with real-time information and a personalized interface to enhance daily productivity and convenience.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139646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D4C364-1FDB-7A07-C76A-99ECC31D4268}"/>
              </a:ext>
            </a:extLst>
          </p:cNvPr>
          <p:cNvSpPr>
            <a:spLocks noGrp="1"/>
          </p:cNvSpPr>
          <p:nvPr>
            <p:ph type="title"/>
          </p:nvPr>
        </p:nvSpPr>
        <p:spPr>
          <a:xfrm>
            <a:off x="980903" y="415635"/>
            <a:ext cx="10180810" cy="714895"/>
          </a:xfrm>
        </p:spPr>
        <p:txBody>
          <a:bodyPr>
            <a:normAutofit/>
          </a:bodyPr>
          <a:lstStyle/>
          <a:p>
            <a:r>
              <a:rPr lang="en-US" dirty="0">
                <a:latin typeface="Times New Roman" panose="02020603050405020304" pitchFamily="18" charset="0"/>
                <a:cs typeface="Times New Roman" panose="02020603050405020304" pitchFamily="18" charset="0"/>
              </a:rPr>
              <a:t>                 Project Objectives  &amp; Goals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0719CF87-7E14-B1C8-2143-BFF3F80E85C6}"/>
              </a:ext>
            </a:extLst>
          </p:cNvPr>
          <p:cNvSpPr>
            <a:spLocks noGrp="1"/>
          </p:cNvSpPr>
          <p:nvPr>
            <p:ph idx="1"/>
          </p:nvPr>
        </p:nvSpPr>
        <p:spPr>
          <a:xfrm>
            <a:off x="1155469" y="1446414"/>
            <a:ext cx="10476550" cy="6700057"/>
          </a:xfrm>
        </p:spPr>
        <p:txBody>
          <a:bodyPr>
            <a:normAutofit/>
          </a:bodyPr>
          <a:lstStyle/>
          <a:p>
            <a:pPr marL="0" indent="0" algn="just">
              <a:buNone/>
            </a:pPr>
            <a:r>
              <a:rPr lang="en-US" altLang="en-US" sz="2400" b="1" dirty="0">
                <a:solidFill>
                  <a:schemeClr val="tx1"/>
                </a:solidFill>
                <a:latin typeface="Times New Roman" panose="02020603050405020304" pitchFamily="18" charset="0"/>
                <a:cs typeface="Times New Roman" panose="02020603050405020304" pitchFamily="18" charset="0"/>
              </a:rPr>
              <a:t>Goal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indent="0" algn="just">
              <a:buNone/>
            </a:pPr>
            <a:r>
              <a:rPr lang="en-US" sz="2400" dirty="0">
                <a:latin typeface="Times New Roman" panose="02020603050405020304" pitchFamily="18" charset="0"/>
                <a:cs typeface="Times New Roman" panose="02020603050405020304" pitchFamily="18" charset="0"/>
              </a:rPr>
              <a:t>To develop an intelligent smart mirror interface that seamlessly integrates calendar functionalities and customizable widgets, enhancing user experience through real-time information display, easy interaction, and a personalized dashboard tailored to individual needs.</a:t>
            </a:r>
            <a:endParaRPr lang="en-US" sz="2000" dirty="0">
              <a:latin typeface="Times New Roman" panose="02020603050405020304" pitchFamily="18" charset="0"/>
              <a:cs typeface="Times New Roman" panose="02020603050405020304" pitchFamily="18" charset="0"/>
            </a:endParaRPr>
          </a:p>
          <a:p>
            <a:pPr marL="0" lvl="0" indent="0" algn="just">
              <a:buNone/>
            </a:pPr>
            <a:r>
              <a:rPr lang="en-US" sz="2400" b="1" dirty="0">
                <a:solidFill>
                  <a:prstClr val="black"/>
                </a:solidFill>
                <a:latin typeface="Times New Roman" panose="02020603050405020304" pitchFamily="18" charset="0"/>
                <a:cs typeface="Times New Roman" panose="02020603050405020304" pitchFamily="18" charset="0"/>
              </a:rPr>
              <a:t>Objectives:-</a:t>
            </a:r>
          </a:p>
          <a:p>
            <a:pPr marL="285750" lvl="0" indent="-28575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Integrate Calendar Functionality</a:t>
            </a:r>
            <a:r>
              <a:rPr lang="en-US" sz="2400" dirty="0">
                <a:solidFill>
                  <a:prstClr val="black"/>
                </a:solidFill>
                <a:latin typeface="Times New Roman" panose="02020603050405020304" pitchFamily="18" charset="0"/>
                <a:cs typeface="Times New Roman" panose="02020603050405020304" pitchFamily="18" charset="0"/>
              </a:rPr>
              <a:t>: Implement a user-friendly calendar system that syncs with existing calendars to display events, reminders, and daily schedules.</a:t>
            </a:r>
          </a:p>
          <a:p>
            <a:pPr marL="285750" lvl="0" indent="-28575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Develop Customizable Widgets</a:t>
            </a:r>
            <a:r>
              <a:rPr lang="en-US" sz="2400" dirty="0">
                <a:solidFill>
                  <a:prstClr val="black"/>
                </a:solidFill>
                <a:latin typeface="Times New Roman" panose="02020603050405020304" pitchFamily="18" charset="0"/>
                <a:cs typeface="Times New Roman" panose="02020603050405020304" pitchFamily="18" charset="0"/>
              </a:rPr>
              <a:t>: Create a set of customizable widgets for displaying information such as weather, news, time, and notifications, allowing users to personalize their smart mirror experience</a:t>
            </a:r>
            <a:endParaRPr lang="en-US" sz="24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466704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97461" y="659287"/>
            <a:ext cx="9411855" cy="4893647"/>
          </a:xfrm>
          <a:prstGeom prst="rect">
            <a:avLst/>
          </a:prstGeom>
        </p:spPr>
        <p:txBody>
          <a:bodyPr wrap="square">
            <a:spAutoFit/>
          </a:bodyPr>
          <a:lstStyle/>
          <a:p>
            <a:pPr lvl="0" algn="just"/>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Ensure Real-Time Updates</a:t>
            </a:r>
            <a:r>
              <a:rPr lang="en-US" sz="2400" dirty="0">
                <a:solidFill>
                  <a:prstClr val="black"/>
                </a:solidFill>
                <a:latin typeface="Times New Roman" panose="02020603050405020304" pitchFamily="18" charset="0"/>
                <a:cs typeface="Times New Roman" panose="02020603050405020304" pitchFamily="18" charset="0"/>
              </a:rPr>
              <a:t>: Enable real-time data synchronization for all widgets and calendar events to keep users updated with the latest information.</a:t>
            </a:r>
          </a:p>
          <a:p>
            <a:pPr lvl="0" algn="just"/>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Optimize User Interaction</a:t>
            </a:r>
            <a:r>
              <a:rPr lang="en-US" sz="2400" dirty="0">
                <a:solidFill>
                  <a:prstClr val="black"/>
                </a:solidFill>
                <a:latin typeface="Times New Roman" panose="02020603050405020304" pitchFamily="18" charset="0"/>
                <a:cs typeface="Times New Roman" panose="02020603050405020304" pitchFamily="18" charset="0"/>
              </a:rPr>
              <a:t>: Design an intuitive user interface with support for touch or voice commands to facilitate easy navigation and interaction with the smart mirror.</a:t>
            </a:r>
          </a:p>
          <a:p>
            <a:pPr lvl="0" algn="just"/>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Provide a Seamless User Experience</a:t>
            </a:r>
            <a:r>
              <a:rPr lang="en-US" sz="2400" dirty="0">
                <a:solidFill>
                  <a:prstClr val="black"/>
                </a:solidFill>
                <a:latin typeface="Times New Roman" panose="02020603050405020304" pitchFamily="18" charset="0"/>
                <a:cs typeface="Times New Roman" panose="02020603050405020304" pitchFamily="18" charset="0"/>
              </a:rPr>
              <a:t>: Ensure the system is responsive, visually appealing, and seamlessly integrated into the user's daily routine, enhancing productivity and convenience.</a:t>
            </a:r>
            <a:r>
              <a:rPr lang="en-US" sz="2400" b="1" dirty="0">
                <a:solidFill>
                  <a:prstClr val="black"/>
                </a:solidFill>
                <a:latin typeface="Times New Roman" panose="02020603050405020304" pitchFamily="18" charset="0"/>
                <a:cs typeface="Times New Roman" panose="02020603050405020304" pitchFamily="18" charset="0"/>
              </a:rPr>
              <a:t/>
            </a:r>
            <a:br>
              <a:rPr lang="en-US" sz="2400" b="1" dirty="0">
                <a:solidFill>
                  <a:prstClr val="black"/>
                </a:solidFill>
                <a:latin typeface="Times New Roman" panose="02020603050405020304" pitchFamily="18" charset="0"/>
                <a:cs typeface="Times New Roman" panose="02020603050405020304" pitchFamily="18" charset="0"/>
              </a:rPr>
            </a:br>
            <a:endParaRPr lang="en-US" altLang="en-US" sz="2400" b="1"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636791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628" y="153115"/>
            <a:ext cx="8587964" cy="575388"/>
          </a:xfrm>
        </p:spPr>
        <p:txBody>
          <a:bodyPr>
            <a:noAutofit/>
          </a:bodyPr>
          <a:lstStyle/>
          <a:p>
            <a:pPr algn="ctr"/>
            <a:r>
              <a:rPr lang="en-US" dirty="0">
                <a:latin typeface="Times New Roman" panose="02020603050405020304" pitchFamily="18" charset="0"/>
                <a:cs typeface="Times New Roman" panose="02020603050405020304" pitchFamily="18" charset="0"/>
              </a:rPr>
              <a:t>Project Scope</a:t>
            </a:r>
          </a:p>
        </p:txBody>
      </p:sp>
      <p:sp>
        <p:nvSpPr>
          <p:cNvPr id="3" name="TextBox 2"/>
          <p:cNvSpPr txBox="1"/>
          <p:nvPr/>
        </p:nvSpPr>
        <p:spPr>
          <a:xfrm>
            <a:off x="1435395" y="1196335"/>
            <a:ext cx="10483702" cy="5262979"/>
          </a:xfrm>
          <a:prstGeom prst="rect">
            <a:avLst/>
          </a:prstGeom>
          <a:noFill/>
        </p:spPr>
        <p:txBody>
          <a:bodyPr wrap="square" rtlCol="0">
            <a:spAutoFit/>
          </a:bodyPr>
          <a:lstStyle/>
          <a:p>
            <a:pPr algn="just"/>
            <a:r>
              <a:rPr lang="en-US" sz="2400" b="1" dirty="0">
                <a:latin typeface="Times New Roman" pitchFamily="18" charset="0"/>
                <a:cs typeface="Times New Roman" pitchFamily="18" charset="0"/>
              </a:rPr>
              <a:t>Calendar Integration:</a:t>
            </a:r>
          </a:p>
          <a:p>
            <a:pPr algn="just">
              <a:buFont typeface="Arial" pitchFamily="34" charset="0"/>
              <a:buChar char="•"/>
            </a:pPr>
            <a:r>
              <a:rPr lang="en-US" sz="2400" dirty="0">
                <a:latin typeface="Times New Roman" pitchFamily="18" charset="0"/>
                <a:cs typeface="Times New Roman" pitchFamily="18" charset="0"/>
              </a:rPr>
              <a:t>Sync with existing calendar platforms (e.g., Google Calendar, Microsoft Outlook).</a:t>
            </a:r>
          </a:p>
          <a:p>
            <a:pPr algn="just">
              <a:buFont typeface="Arial" pitchFamily="34" charset="0"/>
              <a:buChar char="•"/>
            </a:pPr>
            <a:r>
              <a:rPr lang="en-US" sz="2400" dirty="0">
                <a:latin typeface="Times New Roman" pitchFamily="18" charset="0"/>
                <a:cs typeface="Times New Roman" pitchFamily="18" charset="0"/>
              </a:rPr>
              <a:t>Display daily events, reminders, and notifications in an intuitive format.</a:t>
            </a:r>
          </a:p>
          <a:p>
            <a:pPr algn="just"/>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Customizable Widgets:</a:t>
            </a:r>
          </a:p>
          <a:p>
            <a:pPr algn="just">
              <a:buFont typeface="Arial" pitchFamily="34" charset="0"/>
              <a:buChar char="•"/>
            </a:pPr>
            <a:r>
              <a:rPr lang="en-US" sz="2400" dirty="0">
                <a:latin typeface="Times New Roman" pitchFamily="18" charset="0"/>
                <a:cs typeface="Times New Roman" pitchFamily="18" charset="0"/>
              </a:rPr>
              <a:t>Develop widgets for displaying weather, news, time, and other relevant information.</a:t>
            </a:r>
          </a:p>
          <a:p>
            <a:pPr algn="just">
              <a:buFont typeface="Arial" pitchFamily="34" charset="0"/>
              <a:buChar char="•"/>
            </a:pPr>
            <a:r>
              <a:rPr lang="en-US" sz="2400" dirty="0">
                <a:latin typeface="Times New Roman" pitchFamily="18" charset="0"/>
                <a:cs typeface="Times New Roman" pitchFamily="18" charset="0"/>
              </a:rPr>
              <a:t>Allow users to personalize the arrangement and selection of widgets.</a:t>
            </a:r>
          </a:p>
          <a:p>
            <a:pPr algn="just"/>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User Interaction:</a:t>
            </a:r>
          </a:p>
          <a:p>
            <a:pPr algn="just">
              <a:buFont typeface="Arial" pitchFamily="34" charset="0"/>
              <a:buChar char="•"/>
            </a:pPr>
            <a:r>
              <a:rPr lang="en-US" sz="2400" dirty="0">
                <a:latin typeface="Times New Roman" pitchFamily="18" charset="0"/>
                <a:cs typeface="Times New Roman" pitchFamily="18" charset="0"/>
              </a:rPr>
              <a:t>Implement touch and voice command functionalities for easy navigation.</a:t>
            </a:r>
          </a:p>
          <a:p>
            <a:pPr algn="just">
              <a:buFont typeface="Arial" pitchFamily="34" charset="0"/>
              <a:buChar char="•"/>
            </a:pPr>
            <a:r>
              <a:rPr lang="en-US" sz="2400" dirty="0">
                <a:latin typeface="Times New Roman" pitchFamily="18" charset="0"/>
                <a:cs typeface="Times New Roman" pitchFamily="18" charset="0"/>
              </a:rPr>
              <a:t>Ensure the user interface is visually appealing and intuitive.</a:t>
            </a:r>
          </a:p>
          <a:p>
            <a:pPr algn="just"/>
            <a:endParaRPr lang="en-US" sz="2400" dirty="0">
              <a:latin typeface="Times New Roman" pitchFamily="18" charset="0"/>
              <a:cs typeface="Times New Roman" pitchFamily="18" charset="0"/>
            </a:endParaRPr>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F44E9E8-C541-2EE5-E8C0-42AF084E546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968FE27-FA5B-3EC0-0B2F-AF6A315F948C}"/>
              </a:ext>
            </a:extLst>
          </p:cNvPr>
          <p:cNvSpPr>
            <a:spLocks noGrp="1"/>
          </p:cNvSpPr>
          <p:nvPr>
            <p:ph type="title"/>
          </p:nvPr>
        </p:nvSpPr>
        <p:spPr>
          <a:xfrm>
            <a:off x="1554628" y="153115"/>
            <a:ext cx="8587964" cy="575388"/>
          </a:xfrm>
        </p:spPr>
        <p:txBody>
          <a:bodyPr>
            <a:noAutofit/>
          </a:bodyPr>
          <a:lstStyle/>
          <a:p>
            <a:pPr algn="ctr"/>
            <a:r>
              <a:rPr lang="en-US" dirty="0">
                <a:latin typeface="Times New Roman" panose="02020603050405020304" pitchFamily="18" charset="0"/>
                <a:cs typeface="Times New Roman" panose="02020603050405020304" pitchFamily="18" charset="0"/>
              </a:rPr>
              <a:t>Project Scope</a:t>
            </a:r>
          </a:p>
        </p:txBody>
      </p:sp>
      <p:sp>
        <p:nvSpPr>
          <p:cNvPr id="3" name="TextBox 2">
            <a:extLst>
              <a:ext uri="{FF2B5EF4-FFF2-40B4-BE49-F238E27FC236}">
                <a16:creationId xmlns="" xmlns:a16="http://schemas.microsoft.com/office/drawing/2014/main" id="{9DE79BA8-28F6-58B6-E6AD-5BC2470F2404}"/>
              </a:ext>
            </a:extLst>
          </p:cNvPr>
          <p:cNvSpPr txBox="1"/>
          <p:nvPr/>
        </p:nvSpPr>
        <p:spPr>
          <a:xfrm>
            <a:off x="1435395" y="1196335"/>
            <a:ext cx="10483702" cy="2308324"/>
          </a:xfrm>
          <a:prstGeom prst="rect">
            <a:avLst/>
          </a:prstGeom>
          <a:noFill/>
        </p:spPr>
        <p:txBody>
          <a:bodyPr wrap="square" rtlCol="0">
            <a:spAutoFit/>
          </a:bodyPr>
          <a:lstStyle/>
          <a:p>
            <a:pPr algn="just"/>
            <a:r>
              <a:rPr lang="en-US" sz="2400" b="1" dirty="0">
                <a:latin typeface="Times New Roman" pitchFamily="18" charset="0"/>
                <a:cs typeface="Times New Roman" pitchFamily="18" charset="0"/>
              </a:rPr>
              <a:t>Real-Time Updates:</a:t>
            </a:r>
          </a:p>
          <a:p>
            <a:pPr algn="just">
              <a:buFont typeface="Arial" pitchFamily="34" charset="0"/>
              <a:buChar char="•"/>
            </a:pPr>
            <a:r>
              <a:rPr lang="en-US" sz="2400" dirty="0">
                <a:latin typeface="Times New Roman" pitchFamily="18" charset="0"/>
                <a:cs typeface="Times New Roman" pitchFamily="18" charset="0"/>
              </a:rPr>
              <a:t>Integrate APIs to provide live updates for calendar events and widget content.</a:t>
            </a:r>
          </a:p>
          <a:p>
            <a:pPr algn="just"/>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Performance Monitoring:</a:t>
            </a:r>
          </a:p>
          <a:p>
            <a:pPr algn="just">
              <a:buFont typeface="Arial" pitchFamily="34" charset="0"/>
              <a:buChar char="•"/>
            </a:pPr>
            <a:r>
              <a:rPr lang="en-US" sz="2400" dirty="0">
                <a:latin typeface="Times New Roman" pitchFamily="18" charset="0"/>
                <a:cs typeface="Times New Roman" pitchFamily="18" charset="0"/>
              </a:rPr>
              <a:t>Track user engagement and feedback to optimize features and performance.</a:t>
            </a:r>
          </a:p>
          <a:p>
            <a:pPr algn="just"/>
            <a:endParaRPr lang="en-US" sz="2400" dirty="0">
              <a:latin typeface="Times New Roman" pitchFamily="18" charset="0"/>
              <a:cs typeface="Times New Roman" pitchFamily="18" charset="0"/>
            </a:endParaRPr>
          </a:p>
        </p:txBody>
      </p:sp>
    </p:spTree>
    <p:extLst>
      <p:ext uri="{BB962C8B-B14F-4D97-AF65-F5344CB8AC3E}">
        <p14:creationId xmlns="" xmlns:p14="http://schemas.microsoft.com/office/powerpoint/2010/main" val="3290122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2EECDCC-601E-F9AF-1E47-241AF73D00C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34D5459-352D-089E-4C05-28A4DD7A6F6B}"/>
              </a:ext>
            </a:extLst>
          </p:cNvPr>
          <p:cNvSpPr>
            <a:spLocks noGrp="1"/>
          </p:cNvSpPr>
          <p:nvPr>
            <p:ph type="title"/>
          </p:nvPr>
        </p:nvSpPr>
        <p:spPr>
          <a:xfrm>
            <a:off x="1554628" y="153115"/>
            <a:ext cx="8587964" cy="575388"/>
          </a:xfrm>
        </p:spPr>
        <p:txBody>
          <a:bodyPr>
            <a:noAutofit/>
          </a:bodyPr>
          <a:lstStyle/>
          <a:p>
            <a:pPr algn="ctr"/>
            <a:r>
              <a:rPr lang="en-US" dirty="0">
                <a:latin typeface="Times New Roman" panose="02020603050405020304" pitchFamily="18" charset="0"/>
                <a:cs typeface="Times New Roman" panose="02020603050405020304" pitchFamily="18" charset="0"/>
              </a:rPr>
              <a:t> Methodology/ Approach</a:t>
            </a:r>
          </a:p>
        </p:txBody>
      </p:sp>
      <p:sp>
        <p:nvSpPr>
          <p:cNvPr id="5" name="TextBox 4">
            <a:extLst>
              <a:ext uri="{FF2B5EF4-FFF2-40B4-BE49-F238E27FC236}">
                <a16:creationId xmlns="" xmlns:a16="http://schemas.microsoft.com/office/drawing/2014/main" id="{BBE9025F-87A9-418A-3CEE-E09DE07A3F36}"/>
              </a:ext>
            </a:extLst>
          </p:cNvPr>
          <p:cNvSpPr txBox="1"/>
          <p:nvPr/>
        </p:nvSpPr>
        <p:spPr>
          <a:xfrm>
            <a:off x="1554628" y="1063257"/>
            <a:ext cx="9630823" cy="5262979"/>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Design Phase: </a:t>
            </a:r>
            <a:r>
              <a:rPr lang="en-IN" sz="2400" dirty="0">
                <a:latin typeface="Times New Roman" panose="02020603050405020304" pitchFamily="18" charset="0"/>
                <a:cs typeface="Times New Roman" panose="02020603050405020304" pitchFamily="18" charset="0"/>
              </a:rPr>
              <a:t>Initiated with sketching the layout and user interface for the smart mirror, ensuring a balance between aesthetics and functionality.</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Hardware Integration: </a:t>
            </a:r>
            <a:r>
              <a:rPr lang="en-IN" sz="2400" dirty="0">
                <a:latin typeface="Times New Roman" panose="02020603050405020304" pitchFamily="18" charset="0"/>
                <a:cs typeface="Times New Roman" panose="02020603050405020304" pitchFamily="18" charset="0"/>
              </a:rPr>
              <a:t>Raspberry Pi was used as the main controller, integrated with a two-way mirror, display monitor, PIR sensor, and necessary power supply.</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Software Development: </a:t>
            </a:r>
            <a:r>
              <a:rPr lang="en-IN" sz="2400" dirty="0">
                <a:latin typeface="Times New Roman" panose="02020603050405020304" pitchFamily="18" charset="0"/>
                <a:cs typeface="Times New Roman" panose="02020603050405020304" pitchFamily="18" charset="0"/>
              </a:rPr>
              <a:t>Developed a modular dashboard using Python and JavaScript. Integrated APIs for real-time weather updates, calendar events, and news feeds. Facial recognition and voice assistant features were implemented using OpenCV and speech recognition libraries.</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Testing and Debugging: </a:t>
            </a:r>
            <a:r>
              <a:rPr lang="en-IN" sz="2400" dirty="0">
                <a:latin typeface="Times New Roman" panose="02020603050405020304" pitchFamily="18" charset="0"/>
                <a:cs typeface="Times New Roman" panose="02020603050405020304" pitchFamily="18" charset="0"/>
              </a:rPr>
              <a:t>Each module was tested individually and later integrated for final testing on the mirror setup</a:t>
            </a:r>
          </a:p>
        </p:txBody>
      </p:sp>
    </p:spTree>
    <p:extLst>
      <p:ext uri="{BB962C8B-B14F-4D97-AF65-F5344CB8AC3E}">
        <p14:creationId xmlns="" xmlns:p14="http://schemas.microsoft.com/office/powerpoint/2010/main" val="2214138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4873C3F-791B-BBD6-7E4F-45E0F51405AC}"/>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40619CFE-6EDD-EEFE-FE5D-051846906A9E}"/>
              </a:ext>
            </a:extLst>
          </p:cNvPr>
          <p:cNvSpPr>
            <a:spLocks noGrp="1"/>
          </p:cNvSpPr>
          <p:nvPr>
            <p:ph type="title"/>
          </p:nvPr>
        </p:nvSpPr>
        <p:spPr>
          <a:xfrm>
            <a:off x="1554628" y="291338"/>
            <a:ext cx="8587964" cy="575388"/>
          </a:xfrm>
        </p:spPr>
        <p:txBody>
          <a:bodyPr>
            <a:noAutofit/>
          </a:bodyPr>
          <a:lstStyle/>
          <a:p>
            <a:pPr algn="ctr"/>
            <a:r>
              <a:rPr lang="en-US" dirty="0">
                <a:latin typeface="Times New Roman" panose="02020603050405020304" pitchFamily="18" charset="0"/>
                <a:cs typeface="Times New Roman" panose="02020603050405020304" pitchFamily="18" charset="0"/>
              </a:rPr>
              <a:t> Results/finding</a:t>
            </a:r>
          </a:p>
        </p:txBody>
      </p:sp>
      <p:sp>
        <p:nvSpPr>
          <p:cNvPr id="4" name="TextBox 3">
            <a:extLst>
              <a:ext uri="{FF2B5EF4-FFF2-40B4-BE49-F238E27FC236}">
                <a16:creationId xmlns="" xmlns:a16="http://schemas.microsoft.com/office/drawing/2014/main" id="{4AA2749B-D5C0-132E-CF85-66A5272B03B7}"/>
              </a:ext>
            </a:extLst>
          </p:cNvPr>
          <p:cNvSpPr txBox="1"/>
          <p:nvPr/>
        </p:nvSpPr>
        <p:spPr>
          <a:xfrm>
            <a:off x="1403497" y="1488557"/>
            <a:ext cx="9920177" cy="2677656"/>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The smart mirror successfully displayed real-time information like time, weather, calendar events, and daily news headlines.</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user interface was responsive and intuitive.</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Facial recognition worked well for known users, with scope for further improvement in varying lighting conditions.</a:t>
            </a:r>
          </a:p>
        </p:txBody>
      </p:sp>
    </p:spTree>
    <p:extLst>
      <p:ext uri="{BB962C8B-B14F-4D97-AF65-F5344CB8AC3E}">
        <p14:creationId xmlns="" xmlns:p14="http://schemas.microsoft.com/office/powerpoint/2010/main" val="3962933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5-04-16 at 2.53.14 PM.jpeg"/>
          <p:cNvPicPr>
            <a:picLocks noChangeAspect="1"/>
          </p:cNvPicPr>
          <p:nvPr/>
        </p:nvPicPr>
        <p:blipFill>
          <a:blip r:embed="rId2"/>
          <a:stretch>
            <a:fillRect/>
          </a:stretch>
        </p:blipFill>
        <p:spPr>
          <a:xfrm>
            <a:off x="776177" y="574158"/>
            <a:ext cx="10760149" cy="55076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5-04-16 at 2.35.59 PM.jpeg"/>
          <p:cNvPicPr>
            <a:picLocks noChangeAspect="1"/>
          </p:cNvPicPr>
          <p:nvPr/>
        </p:nvPicPr>
        <p:blipFill>
          <a:blip r:embed="rId2"/>
          <a:stretch>
            <a:fillRect/>
          </a:stretch>
        </p:blipFill>
        <p:spPr>
          <a:xfrm>
            <a:off x="1219200" y="800100"/>
            <a:ext cx="9753600" cy="5257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EA3F55-B898-05E8-FC70-76F51D288905}"/>
              </a:ext>
            </a:extLst>
          </p:cNvPr>
          <p:cNvSpPr>
            <a:spLocks noGrp="1"/>
          </p:cNvSpPr>
          <p:nvPr>
            <p:ph type="title"/>
          </p:nvPr>
        </p:nvSpPr>
        <p:spPr>
          <a:xfrm>
            <a:off x="685801" y="609600"/>
            <a:ext cx="10131425" cy="820189"/>
          </a:xfrm>
        </p:spPr>
        <p:txBody>
          <a:bodyPr/>
          <a:lstStyle/>
          <a:p>
            <a:r>
              <a:rPr lang="en-US" sz="3600" dirty="0">
                <a:latin typeface="Times New Roman" panose="02020603050405020304" pitchFamily="18" charset="0"/>
                <a:cs typeface="Times New Roman" panose="02020603050405020304" pitchFamily="18" charset="0"/>
              </a:rPr>
              <a:t>                                    Conclusion</a:t>
            </a:r>
            <a:endParaRPr lang="en-IN" dirty="0"/>
          </a:p>
        </p:txBody>
      </p:sp>
      <p:sp>
        <p:nvSpPr>
          <p:cNvPr id="3" name="Content Placeholder 2">
            <a:extLst>
              <a:ext uri="{FF2B5EF4-FFF2-40B4-BE49-F238E27FC236}">
                <a16:creationId xmlns="" xmlns:a16="http://schemas.microsoft.com/office/drawing/2014/main" id="{334CE2FB-6509-42E1-2786-613ADA1C3FE1}"/>
              </a:ext>
            </a:extLst>
          </p:cNvPr>
          <p:cNvSpPr>
            <a:spLocks noGrp="1"/>
          </p:cNvSpPr>
          <p:nvPr>
            <p:ph idx="1"/>
          </p:nvPr>
        </p:nvSpPr>
        <p:spPr>
          <a:xfrm>
            <a:off x="428264" y="1547131"/>
            <a:ext cx="11366340" cy="4483279"/>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smart mirror project aims to create an innovative interface that integrates calendar functionalities and customizable widgets, enhancing daily productivity. By carefully managing technical, operational, and business risks through comprehensive mitigation strategies, the project is positioned for success. A well-defined scope, aligned objectives, and a structured timeline will ensure efficient development and deployment. Ultimately, this project aspires to provide users with a personalized and interactive experience that seamlessly fits into their daily routines.</a:t>
            </a:r>
          </a:p>
          <a:p>
            <a:pPr marL="0" indent="0" algn="just">
              <a:buNone/>
            </a:pP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892843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C71240-2F09-C354-5CE5-7C4AB12780CB}"/>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36DA020-008C-B32B-05FB-D6E21C73B75D}"/>
              </a:ext>
            </a:extLst>
          </p:cNvPr>
          <p:cNvSpPr>
            <a:spLocks noGrp="1"/>
          </p:cNvSpPr>
          <p:nvPr>
            <p:ph type="title"/>
          </p:nvPr>
        </p:nvSpPr>
        <p:spPr>
          <a:xfrm>
            <a:off x="1554628" y="153115"/>
            <a:ext cx="8587964" cy="575388"/>
          </a:xfrm>
        </p:spPr>
        <p:txBody>
          <a:bodyPr>
            <a:noAutofit/>
          </a:bodyPr>
          <a:lstStyle/>
          <a:p>
            <a:pPr algn="ctr"/>
            <a:r>
              <a:rPr lang="en-US" dirty="0">
                <a:latin typeface="Times New Roman" panose="02020603050405020304" pitchFamily="18" charset="0"/>
                <a:cs typeface="Times New Roman" panose="02020603050405020304" pitchFamily="18" charset="0"/>
              </a:rPr>
              <a:t> Future Work</a:t>
            </a:r>
          </a:p>
        </p:txBody>
      </p:sp>
      <p:sp>
        <p:nvSpPr>
          <p:cNvPr id="4" name="TextBox 3">
            <a:extLst>
              <a:ext uri="{FF2B5EF4-FFF2-40B4-BE49-F238E27FC236}">
                <a16:creationId xmlns="" xmlns:a16="http://schemas.microsoft.com/office/drawing/2014/main" id="{4B1920DE-6DBA-2B97-EB65-01BB187ACE39}"/>
              </a:ext>
            </a:extLst>
          </p:cNvPr>
          <p:cNvSpPr txBox="1"/>
          <p:nvPr/>
        </p:nvSpPr>
        <p:spPr>
          <a:xfrm>
            <a:off x="1554628" y="1375835"/>
            <a:ext cx="8909215" cy="4154984"/>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Enhanced Voice Assistant: Integrate more advanced natural language processing (NLP) capabilities to enable multi-language support and smarter voice interactions.</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Health Monitoring Integration: Add sensors to track vital signs like heart rate, temperature, or body weight, and display health stats on the mirror.</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IoT Home Automation: Enable control of smart home devices (like lights, fans, or AC) directly through voice commands or gestures via the mirror.</a:t>
            </a:r>
          </a:p>
        </p:txBody>
      </p:sp>
    </p:spTree>
    <p:extLst>
      <p:ext uri="{BB962C8B-B14F-4D97-AF65-F5344CB8AC3E}">
        <p14:creationId xmlns="" xmlns:p14="http://schemas.microsoft.com/office/powerpoint/2010/main" val="338937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EA3F55-B898-05E8-FC70-76F51D288905}"/>
              </a:ext>
            </a:extLst>
          </p:cNvPr>
          <p:cNvSpPr>
            <a:spLocks noGrp="1"/>
          </p:cNvSpPr>
          <p:nvPr>
            <p:ph type="title"/>
          </p:nvPr>
        </p:nvSpPr>
        <p:spPr>
          <a:xfrm>
            <a:off x="685801" y="609601"/>
            <a:ext cx="10131425" cy="903316"/>
          </a:xfrm>
        </p:spPr>
        <p:txBody>
          <a:bodyPr/>
          <a:lstStyle/>
          <a:p>
            <a:r>
              <a:rPr lang="en-US" sz="3600" dirty="0">
                <a:latin typeface="Times New Roman" panose="02020603050405020304" pitchFamily="18" charset="0"/>
                <a:cs typeface="Times New Roman" panose="02020603050405020304" pitchFamily="18" charset="0"/>
              </a:rPr>
              <a:t>                                References</a:t>
            </a:r>
            <a:endParaRPr lang="en-IN" dirty="0"/>
          </a:p>
        </p:txBody>
      </p:sp>
      <p:sp>
        <p:nvSpPr>
          <p:cNvPr id="3" name="Content Placeholder 2">
            <a:extLst>
              <a:ext uri="{FF2B5EF4-FFF2-40B4-BE49-F238E27FC236}">
                <a16:creationId xmlns="" xmlns:a16="http://schemas.microsoft.com/office/drawing/2014/main" id="{334CE2FB-6509-42E1-2786-613ADA1C3FE1}"/>
              </a:ext>
            </a:extLst>
          </p:cNvPr>
          <p:cNvSpPr>
            <a:spLocks noGrp="1"/>
          </p:cNvSpPr>
          <p:nvPr>
            <p:ph idx="1"/>
          </p:nvPr>
        </p:nvSpPr>
        <p:spPr>
          <a:xfrm>
            <a:off x="645435" y="1280741"/>
            <a:ext cx="11252397" cy="4420381"/>
          </a:xfrm>
        </p:spPr>
        <p:txBody>
          <a:bodyPr>
            <a:normAutofit fontScale="92500" lnSpcReduction="20000"/>
          </a:bodyPr>
          <a:lstStyle/>
          <a:p>
            <a:pPr>
              <a:lnSpc>
                <a:spcPct val="170000"/>
              </a:lnSpc>
            </a:pPr>
            <a:r>
              <a:rPr lang="en-US" dirty="0" smtClean="0">
                <a:latin typeface="Times New Roman" pitchFamily="18" charset="0"/>
                <a:cs typeface="Times New Roman" pitchFamily="18" charset="0"/>
              </a:rPr>
              <a:t>[1] M. Anwar </a:t>
            </a:r>
            <a:r>
              <a:rPr lang="en-US" dirty="0" err="1" smtClean="0">
                <a:latin typeface="Times New Roman" pitchFamily="18" charset="0"/>
                <a:cs typeface="Times New Roman" pitchFamily="18" charset="0"/>
              </a:rPr>
              <a:t>Hossain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Pradeep</a:t>
            </a:r>
            <a:r>
              <a:rPr lang="en-US" dirty="0" smtClean="0">
                <a:latin typeface="Times New Roman" pitchFamily="18" charset="0"/>
                <a:cs typeface="Times New Roman" pitchFamily="18" charset="0"/>
              </a:rPr>
              <a:t> K. </a:t>
            </a:r>
            <a:r>
              <a:rPr lang="en-US" dirty="0" err="1" smtClean="0">
                <a:latin typeface="Times New Roman" pitchFamily="18" charset="0"/>
                <a:cs typeface="Times New Roman" pitchFamily="18" charset="0"/>
              </a:rPr>
              <a:t>Attrey</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Abdulmotaleb</a:t>
            </a:r>
            <a:r>
              <a:rPr lang="en-US" dirty="0" smtClean="0">
                <a:latin typeface="Times New Roman" pitchFamily="18" charset="0"/>
                <a:cs typeface="Times New Roman" pitchFamily="18" charset="0"/>
              </a:rPr>
              <a:t> El </a:t>
            </a:r>
            <a:r>
              <a:rPr lang="en-US" dirty="0" err="1" smtClean="0">
                <a:latin typeface="Times New Roman" pitchFamily="18" charset="0"/>
                <a:cs typeface="Times New Roman" pitchFamily="18" charset="0"/>
              </a:rPr>
              <a:t>Saddik</a:t>
            </a:r>
            <a:r>
              <a:rPr lang="en-US" dirty="0" smtClean="0">
                <a:latin typeface="Times New Roman" pitchFamily="18" charset="0"/>
                <a:cs typeface="Times New Roman" pitchFamily="18" charset="0"/>
              </a:rPr>
              <a:t>(2007). Smart Mirror for Ambient Home Environment. \</a:t>
            </a:r>
            <a:r>
              <a:rPr lang="en-US" dirty="0" err="1" smtClean="0">
                <a:latin typeface="Times New Roman" pitchFamily="18" charset="0"/>
                <a:cs typeface="Times New Roman" pitchFamily="18" charset="0"/>
              </a:rPr>
              <a:t>textit</a:t>
            </a:r>
            <a:r>
              <a:rPr lang="en-US" dirty="0" smtClean="0">
                <a:latin typeface="Times New Roman" pitchFamily="18" charset="0"/>
                <a:cs typeface="Times New Roman" pitchFamily="18" charset="0"/>
              </a:rPr>
              <a:t>{Research Gate Conference Paper(RGCP)</a:t>
            </a:r>
          </a:p>
          <a:p>
            <a:pPr>
              <a:lnSpc>
                <a:spcPct val="170000"/>
              </a:lnSpc>
            </a:pPr>
            <a:r>
              <a:rPr lang="en-US" dirty="0" smtClean="0">
                <a:latin typeface="Times New Roman" pitchFamily="18" charset="0"/>
                <a:cs typeface="Times New Roman" pitchFamily="18" charset="0"/>
              </a:rPr>
              <a:t>[2] Q. Ye and D. </a:t>
            </a:r>
            <a:r>
              <a:rPr lang="en-US" dirty="0" err="1" smtClean="0">
                <a:latin typeface="Times New Roman" pitchFamily="18" charset="0"/>
                <a:cs typeface="Times New Roman" pitchFamily="18" charset="0"/>
              </a:rPr>
              <a:t>Doermann</a:t>
            </a:r>
            <a:r>
              <a:rPr lang="en-US" dirty="0" smtClean="0">
                <a:latin typeface="Times New Roman" pitchFamily="18" charset="0"/>
                <a:cs typeface="Times New Roman" pitchFamily="18" charset="0"/>
              </a:rPr>
              <a:t>, “Text detection and recognition in imagery: A survey,” </a:t>
            </a:r>
            <a:r>
              <a:rPr lang="en-US" i="1" dirty="0" smtClean="0">
                <a:latin typeface="Times New Roman" pitchFamily="18" charset="0"/>
                <a:cs typeface="Times New Roman" pitchFamily="18" charset="0"/>
              </a:rPr>
              <a:t>PAMI</a:t>
            </a:r>
            <a:r>
              <a:rPr lang="en-US" dirty="0" smtClean="0">
                <a:latin typeface="Times New Roman" pitchFamily="18" charset="0"/>
                <a:cs typeface="Times New Roman" pitchFamily="18" charset="0"/>
              </a:rPr>
              <a:t>, vol. 37, no. 7, pp. 1480–1500, 2015.</a:t>
            </a:r>
          </a:p>
          <a:p>
            <a:pPr>
              <a:lnSpc>
                <a:spcPct val="170000"/>
              </a:lnSpc>
            </a:pPr>
            <a:r>
              <a:rPr lang="en-IN" kern="50" dirty="0" smtClean="0">
                <a:latin typeface="Times New Roman" panose="02020603050405020304" pitchFamily="18" charset="0"/>
                <a:ea typeface="Tahoma" panose="020B0604030504040204" pitchFamily="34" charset="0"/>
                <a:cs typeface="Times New Roman" panose="02020603050405020304" pitchFamily="18" charset="0"/>
              </a:rPr>
              <a:t>[3] </a:t>
            </a:r>
            <a:r>
              <a:rPr lang="en-IN" kern="50" dirty="0" err="1" smtClean="0">
                <a:latin typeface="Times New Roman" panose="02020603050405020304" pitchFamily="18" charset="0"/>
                <a:ea typeface="Tahoma" panose="020B0604030504040204" pitchFamily="34" charset="0"/>
                <a:cs typeface="Times New Roman" panose="02020603050405020304" pitchFamily="18" charset="0"/>
              </a:rPr>
              <a:t>Mukhopadhyay</a:t>
            </a:r>
            <a:r>
              <a:rPr lang="en-IN" kern="50" dirty="0" smtClean="0">
                <a:latin typeface="Times New Roman" panose="02020603050405020304" pitchFamily="18" charset="0"/>
                <a:ea typeface="Tahoma" panose="020B0604030504040204" pitchFamily="34" charset="0"/>
                <a:cs typeface="Times New Roman" panose="02020603050405020304" pitchFamily="18" charset="0"/>
              </a:rPr>
              <a:t>, K., </a:t>
            </a:r>
            <a:r>
              <a:rPr lang="en-IN" kern="50" dirty="0" err="1" smtClean="0">
                <a:latin typeface="Times New Roman" panose="02020603050405020304" pitchFamily="18" charset="0"/>
                <a:ea typeface="Tahoma" panose="020B0604030504040204" pitchFamily="34" charset="0"/>
                <a:cs typeface="Times New Roman" panose="02020603050405020304" pitchFamily="18" charset="0"/>
              </a:rPr>
              <a:t>Sinha</a:t>
            </a:r>
            <a:r>
              <a:rPr lang="en-IN" kern="50" dirty="0" smtClean="0">
                <a:latin typeface="Times New Roman" panose="02020603050405020304" pitchFamily="18" charset="0"/>
                <a:ea typeface="Tahoma" panose="020B0604030504040204" pitchFamily="34" charset="0"/>
                <a:cs typeface="Times New Roman" panose="02020603050405020304" pitchFamily="18" charset="0"/>
              </a:rPr>
              <a:t>, C., </a:t>
            </a:r>
            <a:r>
              <a:rPr lang="en-IN" kern="50" dirty="0" err="1" smtClean="0">
                <a:latin typeface="Times New Roman" panose="02020603050405020304" pitchFamily="18" charset="0"/>
                <a:ea typeface="Tahoma" panose="020B0604030504040204" pitchFamily="34" charset="0"/>
                <a:cs typeface="Times New Roman" panose="02020603050405020304" pitchFamily="18" charset="0"/>
              </a:rPr>
              <a:t>Saha</a:t>
            </a:r>
            <a:r>
              <a:rPr lang="en-IN" kern="50" dirty="0" smtClean="0">
                <a:latin typeface="Times New Roman" panose="02020603050405020304" pitchFamily="18" charset="0"/>
                <a:ea typeface="Tahoma" panose="020B0604030504040204" pitchFamily="34" charset="0"/>
                <a:cs typeface="Times New Roman" panose="02020603050405020304" pitchFamily="18" charset="0"/>
              </a:rPr>
              <a:t>, H. N., </a:t>
            </a:r>
            <a:r>
              <a:rPr lang="en-IN" kern="50" dirty="0" err="1" smtClean="0">
                <a:latin typeface="Times New Roman" panose="02020603050405020304" pitchFamily="18" charset="0"/>
                <a:ea typeface="Tahoma" panose="020B0604030504040204" pitchFamily="34" charset="0"/>
                <a:cs typeface="Times New Roman" panose="02020603050405020304" pitchFamily="18" charset="0"/>
              </a:rPr>
              <a:t>Rakshit</a:t>
            </a:r>
            <a:r>
              <a:rPr lang="en-IN" kern="50" dirty="0" smtClean="0">
                <a:latin typeface="Times New Roman" panose="02020603050405020304" pitchFamily="18" charset="0"/>
                <a:ea typeface="Tahoma" panose="020B0604030504040204" pitchFamily="34" charset="0"/>
                <a:cs typeface="Times New Roman" panose="02020603050405020304" pitchFamily="18" charset="0"/>
              </a:rPr>
              <a:t>, S., &amp; </a:t>
            </a:r>
            <a:r>
              <a:rPr lang="en-IN" kern="50" dirty="0" err="1" smtClean="0">
                <a:latin typeface="Times New Roman" panose="02020603050405020304" pitchFamily="18" charset="0"/>
                <a:ea typeface="Tahoma" panose="020B0604030504040204" pitchFamily="34" charset="0"/>
                <a:cs typeface="Times New Roman" panose="02020603050405020304" pitchFamily="18" charset="0"/>
              </a:rPr>
              <a:t>Auddy</a:t>
            </a:r>
            <a:r>
              <a:rPr lang="en-IN" kern="50" dirty="0" smtClean="0">
                <a:latin typeface="Times New Roman" panose="02020603050405020304" pitchFamily="18" charset="0"/>
                <a:ea typeface="Tahoma" panose="020B0604030504040204" pitchFamily="34" charset="0"/>
                <a:cs typeface="Times New Roman" panose="02020603050405020304" pitchFamily="18" charset="0"/>
              </a:rPr>
              <a:t>, S. (2018).Smart Mirror - A Secured Application of Artificial Intelligence Recognizing Human Face and Voice.2018 IEEE 9th Annual Information Technology, Electronics and Mobile Communication Conference (IEMCON), pp. 1279–1289.</a:t>
            </a:r>
          </a:p>
          <a:p>
            <a:pPr>
              <a:lnSpc>
                <a:spcPct val="170000"/>
              </a:lnSpc>
            </a:pPr>
            <a:r>
              <a:rPr lang="en-IN" kern="50" dirty="0" smtClean="0">
                <a:latin typeface="Times New Roman" panose="02020603050405020304" pitchFamily="18" charset="0"/>
                <a:ea typeface="Tahoma" panose="020B0604030504040204" pitchFamily="34" charset="0"/>
                <a:cs typeface="Times New Roman" panose="02020603050405020304" pitchFamily="18" charset="0"/>
              </a:rPr>
              <a:t>[4] Sun, Y., </a:t>
            </a:r>
            <a:r>
              <a:rPr lang="en-IN" kern="50" dirty="0" err="1" smtClean="0">
                <a:latin typeface="Times New Roman" panose="02020603050405020304" pitchFamily="18" charset="0"/>
                <a:ea typeface="Tahoma" panose="020B0604030504040204" pitchFamily="34" charset="0"/>
                <a:cs typeface="Times New Roman" panose="02020603050405020304" pitchFamily="18" charset="0"/>
              </a:rPr>
              <a:t>Geng</a:t>
            </a:r>
            <a:r>
              <a:rPr lang="en-IN" kern="50" dirty="0" smtClean="0">
                <a:latin typeface="Times New Roman" panose="02020603050405020304" pitchFamily="18" charset="0"/>
                <a:ea typeface="Tahoma" panose="020B0604030504040204" pitchFamily="34" charset="0"/>
                <a:cs typeface="Times New Roman" panose="02020603050405020304" pitchFamily="18" charset="0"/>
              </a:rPr>
              <a:t>, L., &amp; Dan, K. (2018).Design of Smart Mirror Based on Raspberry Pi.2018 International Conference on Intelligent Transportation, Big Data &amp; Smart City (ICITBS), pp. </a:t>
            </a:r>
            <a:r>
              <a:rPr lang="en-IN" kern="50" smtClean="0">
                <a:latin typeface="Times New Roman" panose="02020603050405020304" pitchFamily="18" charset="0"/>
                <a:ea typeface="Tahoma" panose="020B0604030504040204" pitchFamily="34" charset="0"/>
                <a:cs typeface="Times New Roman" panose="02020603050405020304" pitchFamily="18" charset="0"/>
              </a:rPr>
              <a:t>77–80.</a:t>
            </a:r>
            <a:endParaRPr lang="en-IN" sz="1800" kern="50" dirty="0">
              <a:effectLst/>
              <a:latin typeface="Times New Roman" panose="02020603050405020304" pitchFamily="18" charset="0"/>
              <a:ea typeface="Tahoma" panose="020B0604030504040204" pitchFamily="34" charset="0"/>
              <a:cs typeface="Times New Roman" panose="02020603050405020304" pitchFamily="18" charset="0"/>
            </a:endParaRPr>
          </a:p>
          <a:p>
            <a:pPr marL="0" lvl="0" indent="0" algn="just">
              <a:buNone/>
            </a:pPr>
            <a:r>
              <a:rPr lang="en-IN" sz="1800" b="1" kern="50" dirty="0">
                <a:solidFill>
                  <a:srgbClr val="000000"/>
                </a:solidFill>
                <a:effectLst/>
                <a:latin typeface="Segoe UI" panose="020B0502040204020203" pitchFamily="34" charset="0"/>
                <a:ea typeface="Times New Roman" panose="02020603050405020304" pitchFamily="18" charset="0"/>
                <a:cs typeface="Mangal" panose="02040503050203030202" pitchFamily="18" charset="0"/>
              </a:rPr>
              <a:t> </a:t>
            </a:r>
            <a:endParaRPr lang="en-IN" sz="1800" kern="50" dirty="0">
              <a:effectLst/>
              <a:latin typeface="Liberation Serif"/>
              <a:ea typeface="DejaVu Sans"/>
              <a:cs typeface="Mangal" panose="02040503050203030202" pitchFamily="18" charset="0"/>
            </a:endParaRPr>
          </a:p>
          <a:p>
            <a:endParaRPr lang="en-IN" u="sng" dirty="0">
              <a:solidFill>
                <a:srgbClr val="0563C1"/>
              </a:solidFill>
              <a:latin typeface="Segoe UI" panose="020B0502040204020203" pitchFamily="34" charset="0"/>
              <a:ea typeface="Times New Roman" panose="02020603050405020304" pitchFamily="18" charset="0"/>
              <a:cs typeface="Times New Roman" panose="02020603050405020304" pitchFamily="18" charset="0"/>
            </a:endParaRPr>
          </a:p>
          <a:p>
            <a:pPr marL="0" indent="0">
              <a:buNone/>
            </a:pPr>
            <a:endParaRPr lang="en-IN" sz="1800" kern="50" dirty="0">
              <a:effectLst/>
              <a:latin typeface="Liberation Serif"/>
              <a:ea typeface="DejaVu Sans"/>
              <a:cs typeface="Mangal" panose="02040503050203030202" pitchFamily="18" charset="0"/>
            </a:endParaRPr>
          </a:p>
          <a:p>
            <a:endParaRPr lang="en-IN" dirty="0"/>
          </a:p>
        </p:txBody>
      </p:sp>
    </p:spTree>
    <p:extLst>
      <p:ext uri="{BB962C8B-B14F-4D97-AF65-F5344CB8AC3E}">
        <p14:creationId xmlns="" xmlns:p14="http://schemas.microsoft.com/office/powerpoint/2010/main" val="4266645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35494" y="2006081"/>
            <a:ext cx="8126964" cy="1446550"/>
          </a:xfrm>
          <a:prstGeom prst="rect">
            <a:avLst/>
          </a:prstGeom>
          <a:noFill/>
        </p:spPr>
        <p:txBody>
          <a:bodyPr wrap="square" rtlCol="0">
            <a:spAutoFit/>
          </a:bodyPr>
          <a:lstStyle/>
          <a:p>
            <a:pPr algn="ctr"/>
            <a:r>
              <a:rPr lang="en-US" sz="8800" b="1" dirty="0">
                <a:solidFill>
                  <a:schemeClr val="accent1"/>
                </a:solidFill>
                <a:latin typeface="Times New Roman" pitchFamily="18" charset="0"/>
                <a:cs typeface="Times New Roman" pitchFamily="18" charset="0"/>
              </a:rPr>
              <a:t>Thank You</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774</TotalTime>
  <Words>1050</Words>
  <Application>Microsoft Office PowerPoint</Application>
  <PresentationFormat>Custom</PresentationFormat>
  <Paragraphs>99</Paragraphs>
  <Slides>16</Slides>
  <Notes>3</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Wisp</vt:lpstr>
      <vt:lpstr>Dr. D.Y. Patil College of Engineering and Innovation, Pune </vt:lpstr>
      <vt:lpstr>                                 CONTENTS</vt:lpstr>
      <vt:lpstr>                             Introduction</vt:lpstr>
      <vt:lpstr>                  Problem statement</vt:lpstr>
      <vt:lpstr>                 Project Objectives  &amp; Goals</vt:lpstr>
      <vt:lpstr>Slide 6</vt:lpstr>
      <vt:lpstr>Project Scope</vt:lpstr>
      <vt:lpstr>Project Scope</vt:lpstr>
      <vt:lpstr> Methodology/ Approach</vt:lpstr>
      <vt:lpstr> Results/finding</vt:lpstr>
      <vt:lpstr>Slide 11</vt:lpstr>
      <vt:lpstr>Slide 12</vt:lpstr>
      <vt:lpstr>                                    Conclusion</vt:lpstr>
      <vt:lpstr> Future Work</vt:lpstr>
      <vt:lpstr>                                References</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D.Y. Patil College of Engineering and Innovation, Pune</dc:title>
  <dc:creator>DIVYA RATHOD</dc:creator>
  <cp:lastModifiedBy>Tanuja</cp:lastModifiedBy>
  <cp:revision>65</cp:revision>
  <dcterms:created xsi:type="dcterms:W3CDTF">2024-08-28T13:35:01Z</dcterms:created>
  <dcterms:modified xsi:type="dcterms:W3CDTF">2025-04-16T09:24:37Z</dcterms:modified>
</cp:coreProperties>
</file>